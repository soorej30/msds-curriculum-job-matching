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B5"/>
                </a:solidFill>
                <a:latin typeface="Calibri"/>
              </a:rPr>
              <a:t>CU Boulder  ·  MSDS Research  · 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Georgia"/>
              </a:rPr>
              <a:t>Curriculum × Job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FB87C"/>
                </a:solidFill>
                <a:latin typeface="Calibri"/>
              </a:rPr>
              <a:t>Mapping the MS-DS program against data science hiring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97680"/>
            <a:ext cx="1783080" cy="347472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4A5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B87C"/>
                </a:solidFill>
                <a:latin typeface="Calibri"/>
              </a:rPr>
              <a:t>100 Job Postings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4297680"/>
            <a:ext cx="1783080" cy="347472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4A5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B87C"/>
                </a:solidFill>
                <a:latin typeface="Calibri"/>
              </a:rPr>
              <a:t>69 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297680"/>
            <a:ext cx="1783080" cy="347472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4A5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B87C"/>
                </a:solidFill>
                <a:latin typeface="Calibri"/>
              </a:rPr>
              <a:t>7 Roles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365760" cy="25400"/>
          </a:xfrm>
          <a:prstGeom prst="rect">
            <a:avLst/>
          </a:prstGeom>
          <a:solidFill>
            <a:srgbClr val="9F8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F8D5C"/>
                </a:solidFill>
                <a:latin typeface="Calibri"/>
              </a:rPr>
              <a:t>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D1526"/>
                </a:solidFill>
                <a:latin typeface="Georgia"/>
              </a:rPr>
              <a:t>Three deliverables, ready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526"/>
                </a:solidFill>
                <a:latin typeface="Georgia"/>
              </a:rPr>
              <a:t>Job Market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100 LinkedIn postings across 7 data
science roles, scraped June 2026 with
full descriptions and metadata.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3108960" cy="347472"/>
          </a:xfrm>
          <a:prstGeom prst="roundRect">
            <a:avLst>
              <a:gd name="adj" fmla="val 15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47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526"/>
                </a:solidFill>
                <a:latin typeface="Courier New"/>
              </a:rPr>
              <a:t>linkedin_ds_jobs.json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526"/>
                </a:solidFill>
                <a:latin typeface="Georgia"/>
              </a:rPr>
              <a:t>Curriculum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69 MSDS courses — 29 online DTSA +
40 on-campus electives — with official
CU catalog descriptions.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5029200"/>
            <a:ext cx="3108960" cy="347472"/>
          </a:xfrm>
          <a:prstGeom prst="roundRect">
            <a:avLst>
              <a:gd name="adj" fmla="val 15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5047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526"/>
                </a:solidFill>
                <a:latin typeface="Courier New"/>
              </a:rPr>
              <a:t>cu_boulder_msds_courses.json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526"/>
                </a:solidFill>
                <a:latin typeface="Georgia"/>
              </a:rPr>
              <a:t>Interactive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63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Self-contained HTML dashboard. Filter
by role, section, specialization.
No build step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5029200"/>
            <a:ext cx="3108960" cy="347472"/>
          </a:xfrm>
          <a:prstGeom prst="roundRect">
            <a:avLst>
              <a:gd name="adj" fmla="val 15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5047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526"/>
                </a:solidFill>
                <a:latin typeface="Courier New"/>
              </a:rPr>
              <a:t>msds_dashboard.html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365760" cy="254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B87C"/>
                </a:solidFill>
                <a:latin typeface="Calibri"/>
              </a:rPr>
              <a:t>DATA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9AAAC8"/>
                </a:solidFill>
                <a:latin typeface="Georgia"/>
              </a:rPr>
              <a:t>Everything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CFB87C"/>
                </a:solidFill>
                <a:latin typeface="Georgia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FB5"/>
                </a:solidFill>
                <a:latin typeface="Calibri"/>
              </a:rPr>
              <a:t>Job Postings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560320"/>
            <a:ext cx="19050" cy="1828800"/>
          </a:xfrm>
          <a:prstGeom prst="rect">
            <a:avLst/>
          </a:prstGeom>
          <a:solidFill>
            <a:srgbClr val="2A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CFB87C"/>
                </a:solidFill>
                <a:latin typeface="Georgia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FB5"/>
                </a:solidFill>
                <a:latin typeface="Calibri"/>
              </a:rPr>
              <a:t>MSDS 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19050" cy="1828800"/>
          </a:xfrm>
          <a:prstGeom prst="rect">
            <a:avLst/>
          </a:prstGeom>
          <a:solidFill>
            <a:srgbClr val="2A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CFB87C"/>
                </a:solidFill>
                <a:latin typeface="Georg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FB5"/>
                </a:solidFill>
                <a:latin typeface="Calibri"/>
              </a:rPr>
              <a:t>Roles 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2560320"/>
            <a:ext cx="19050" cy="1828800"/>
          </a:xfrm>
          <a:prstGeom prst="rect">
            <a:avLst/>
          </a:prstGeom>
          <a:solidFill>
            <a:srgbClr val="2A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CFB87C"/>
                </a:solidFill>
                <a:latin typeface="Georgia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FB5"/>
                </a:solidFill>
                <a:latin typeface="Calibri"/>
              </a:rPr>
              <a:t>Official Catalog
Descriptions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365760" cy="254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B87C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From raw data to research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4592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9050">
            <a:solidFill>
              <a:srgbClr val="CFB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B87C"/>
                </a:solidFill>
                <a:latin typeface="Calibri"/>
              </a:rPr>
              <a:t>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AC8"/>
                </a:solidFill>
                <a:latin typeface="Calibri"/>
              </a:rPr>
              <a:t>100 job postings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20040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9050">
            <a:solidFill>
              <a:srgbClr val="CFB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46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B87C"/>
                </a:solidFill>
                <a:latin typeface="Calibri"/>
              </a:rPr>
              <a:t>CU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AC8"/>
                </a:solidFill>
                <a:latin typeface="Calibri"/>
              </a:rPr>
              <a:t>69 courses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1945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9050">
            <a:solidFill>
              <a:srgbClr val="4A5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304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.json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606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FB5"/>
                </a:solidFill>
                <a:latin typeface="Calibri"/>
              </a:rPr>
              <a:t>structured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14884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677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526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060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72138"/>
                </a:solidFill>
                <a:latin typeface="Courier New"/>
              </a:rPr>
              <a:t>msds_dashboard.html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92024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3A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965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 · Gap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FB5"/>
                </a:solidFill>
                <a:latin typeface="Calibri"/>
              </a:rPr>
              <a:t>Course improvement recs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06324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3A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108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· Two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474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FB5"/>
                </a:solidFill>
                <a:latin typeface="Calibri"/>
              </a:rPr>
              <a:t>Student + Professor facing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20624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3A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251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 · Advertising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617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FB5"/>
                </a:solidFill>
                <a:latin typeface="Calibri"/>
              </a:rPr>
              <a:t>Keyword demand ranking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2029968"/>
            <a:ext cx="411480" cy="254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18928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B87C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3584448"/>
            <a:ext cx="411480" cy="254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4472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B87C"/>
                </a:solidFill>
                <a:latin typeface="Calibr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651760"/>
            <a:ext cx="548640" cy="254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B87C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331720"/>
            <a:ext cx="731520" cy="25400"/>
          </a:xfrm>
          <a:prstGeom prst="rect">
            <a:avLst/>
          </a:prstGeom>
          <a:solidFill>
            <a:srgbClr val="3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3474720"/>
            <a:ext cx="731520" cy="25400"/>
          </a:xfrm>
          <a:prstGeom prst="rect">
            <a:avLst/>
          </a:prstGeom>
          <a:solidFill>
            <a:srgbClr val="3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4617720"/>
            <a:ext cx="731520" cy="25400"/>
          </a:xfrm>
          <a:prstGeom prst="rect">
            <a:avLst/>
          </a:prstGeom>
          <a:solidFill>
            <a:srgbClr val="3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4F72"/>
                </a:solidFill>
                <a:latin typeface="Calibri"/>
              </a:rPr>
              <a:t>NEXT STEPS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365760" cy="25400"/>
          </a:xfrm>
          <a:prstGeom prst="rect">
            <a:avLst/>
          </a:prstGeom>
          <a:solidFill>
            <a:srgbClr val="9F8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F8D5C"/>
                </a:solidFill>
                <a:latin typeface="Calibri"/>
              </a:rPr>
              <a:t>NEXT STEP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D1526"/>
                </a:solidFill>
                <a:latin typeface="Georgia"/>
              </a:rPr>
              <a:t>Course improvement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D8DFED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526"/>
                </a:solidFill>
                <a:latin typeface="Calibri"/>
              </a:rPr>
              <a:t>Extract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Run NLP (TF-IDF + noun-phrase extraction) on all 100 job descriptions to surface high-frequency technical terms by role.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8DFED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D8DFED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834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526"/>
                </a:solidFill>
                <a:latin typeface="Calibri"/>
              </a:rPr>
              <a:t>Match to 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91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Compare keyword corpus against course titles and descriptions. Compute a coverage score per course — what's taught vs. what's demanded.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8DFED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D8DFED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526"/>
                </a:solidFill>
                <a:latin typeface="Calibri"/>
              </a:rPr>
              <a:t>Generate Recs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For each course, surface the top N missing market keywords and suggest concrete additions to syllabi or course descriptions.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365760" cy="25400"/>
          </a:xfrm>
          <a:prstGeom prst="rect">
            <a:avLst/>
          </a:prstGeom>
          <a:solidFill>
            <a:srgbClr val="9F8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F8D5C"/>
                </a:solidFill>
                <a:latin typeface="Calibri"/>
              </a:rPr>
              <a:t>NEXT STEP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D1526"/>
                </a:solidFill>
                <a:latin typeface="Georgia"/>
              </a:rPr>
              <a:t>Two research tools — one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440680" cy="42976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STUDENT-FACING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77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526"/>
                </a:solidFill>
                <a:latin typeface="Georgia"/>
              </a:rPr>
              <a:t>Course Recommender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 student selects their target role — AI Engineer, Data Scientist, ML Engineer — and the tool returns ranked course recommendations based on how well each course covers that role's keyword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9776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Role selector: 7 data science roles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Course ranking by demand alignment score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Keyword gap explanation per course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Specialization pathway suggestions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440680" cy="42976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PROFESSOR-FACING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526"/>
                </a:solidFill>
                <a:latin typeface="Georgia"/>
              </a:rPr>
              <a:t>Curriculum Gap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Professors and program directors see which market keywords are underrepresented across the MSDS curriculum, and which courses are best positioned to close each gap.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Keyword heatmap across all courses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Gap ranking: most-demanded, least-covered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Per-course coverage score over time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D1526"/>
                </a:solidFill>
                <a:latin typeface="Calibri"/>
              </a:rPr>
              <a:t>→  Role-by-role demand breakdown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365760" cy="25400"/>
          </a:xfrm>
          <a:prstGeom prst="rect">
            <a:avLst/>
          </a:prstGeom>
          <a:solidFill>
            <a:srgbClr val="9F8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F8D5C"/>
                </a:solidFill>
                <a:latin typeface="Calibri"/>
              </a:rPr>
              <a:t>NEXT STEP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D1526"/>
                </a:solidFill>
                <a:latin typeface="Georgia"/>
              </a:rPr>
              <a:t>Decide which courses to advertise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526"/>
                </a:solidFill>
                <a:latin typeface="Calibri"/>
              </a:rPr>
              <a:t>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965960"/>
            <a:ext cx="6858000" cy="301752"/>
          </a:xfrm>
          <a:prstGeom prst="roundRect">
            <a:avLst>
              <a:gd name="adj" fmla="val 4000"/>
            </a:avLst>
          </a:prstGeom>
          <a:solidFill>
            <a:srgbClr val="D8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1965960"/>
            <a:ext cx="6240780" cy="301752"/>
          </a:xfrm>
          <a:prstGeom prst="roundRect">
            <a:avLst>
              <a:gd name="adj" fmla="val 4000"/>
            </a:avLst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965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526"/>
                </a:solidFill>
                <a:latin typeface="Courier New"/>
              </a:rPr>
              <a:t>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920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DTSA 5509 · CSCI 5622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526"/>
                </a:solidFill>
                <a:latin typeface="Calibri"/>
              </a:rP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624328"/>
            <a:ext cx="6858000" cy="301752"/>
          </a:xfrm>
          <a:prstGeom prst="roundRect">
            <a:avLst>
              <a:gd name="adj" fmla="val 4000"/>
            </a:avLst>
          </a:prstGeom>
          <a:solidFill>
            <a:srgbClr val="D8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624328"/>
            <a:ext cx="5760720" cy="301752"/>
          </a:xfrm>
          <a:prstGeom prst="roundRect">
            <a:avLst>
              <a:gd name="adj" fmla="val 4000"/>
            </a:avLst>
          </a:prstGeom>
          <a:solidFill>
            <a:srgbClr val="B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6243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526"/>
                </a:solidFill>
                <a:latin typeface="Courier New"/>
              </a:rPr>
              <a:t>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5786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DTSA 5301 · DTSA 5509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369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526"/>
                </a:solidFill>
                <a:latin typeface="Calibri"/>
              </a:rPr>
              <a:t>Deep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282696"/>
            <a:ext cx="6858000" cy="301752"/>
          </a:xfrm>
          <a:prstGeom prst="roundRect">
            <a:avLst>
              <a:gd name="adj" fmla="val 4000"/>
            </a:avLst>
          </a:prstGeom>
          <a:solidFill>
            <a:srgbClr val="D8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3282696"/>
            <a:ext cx="5006340" cy="301752"/>
          </a:xfrm>
          <a:prstGeom prst="roundRect">
            <a:avLst>
              <a:gd name="adj" fmla="val 4000"/>
            </a:avLst>
          </a:prstGeom>
          <a:solidFill>
            <a:srgbClr val="A59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2826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526"/>
                </a:solidFill>
                <a:latin typeface="Courier New"/>
              </a:rPr>
              <a:t>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2369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DTSA 5511 · CSCI 5922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953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526"/>
                </a:solidFill>
                <a:latin typeface="Calibri"/>
              </a:rPr>
              <a:t>MLOps / 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941064"/>
            <a:ext cx="6858000" cy="301752"/>
          </a:xfrm>
          <a:prstGeom prst="roundRect">
            <a:avLst>
              <a:gd name="adj" fmla="val 4000"/>
            </a:avLst>
          </a:prstGeom>
          <a:solidFill>
            <a:srgbClr val="D8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3941064"/>
            <a:ext cx="4594860" cy="301752"/>
          </a:xfrm>
          <a:prstGeom prst="roundRect">
            <a:avLst>
              <a:gd name="adj" fmla="val 4000"/>
            </a:avLst>
          </a:prstGeom>
          <a:solidFill>
            <a:srgbClr val="9A8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39410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526"/>
                </a:solidFill>
                <a:latin typeface="Courier New"/>
              </a:rPr>
              <a:t>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8953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DTSA 5840 —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537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526"/>
                </a:solidFill>
                <a:latin typeface="Calibri"/>
              </a:rPr>
              <a:t>Cloud (AWS / GCP)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599432"/>
            <a:ext cx="6858000" cy="301752"/>
          </a:xfrm>
          <a:prstGeom prst="roundRect">
            <a:avLst>
              <a:gd name="adj" fmla="val 4000"/>
            </a:avLst>
          </a:prstGeom>
          <a:solidFill>
            <a:srgbClr val="D8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4640" y="4599432"/>
            <a:ext cx="4183380" cy="301752"/>
          </a:xfrm>
          <a:prstGeom prst="roundRect">
            <a:avLst>
              <a:gd name="adj" fmla="val 4000"/>
            </a:avLst>
          </a:prstGeom>
          <a:solidFill>
            <a:srgbClr val="8E7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45994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526"/>
                </a:solidFill>
                <a:latin typeface="Courier New"/>
              </a:rPr>
              <a:t>61%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553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No direct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120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526"/>
                </a:solidFill>
                <a:latin typeface="Calibri"/>
              </a:rPr>
              <a:t>LLMs / Gen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5257800"/>
            <a:ext cx="6858000" cy="301752"/>
          </a:xfrm>
          <a:prstGeom prst="roundRect">
            <a:avLst>
              <a:gd name="adj" fmla="val 4000"/>
            </a:avLst>
          </a:prstGeom>
          <a:solidFill>
            <a:srgbClr val="D8D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5257800"/>
            <a:ext cx="3771900" cy="301752"/>
          </a:xfrm>
          <a:prstGeom prst="roundRect">
            <a:avLst>
              <a:gd name="adj" fmla="val 4000"/>
            </a:avLst>
          </a:prstGeom>
          <a:solidFill>
            <a:srgbClr val="827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257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526"/>
                </a:solidFill>
                <a:latin typeface="Courier New"/>
              </a:rPr>
              <a:t>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52120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DTSA 5900 (emerging)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Illustrative — % of job postings mentioning keyword. Final analysis will compute these from the actual 100-posting corpus.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365760" cy="254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B87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Foundation is set.
Analysis starts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5303520" cy="2834640"/>
          </a:xfrm>
          <a:prstGeom prst="roundRect">
            <a:avLst>
              <a:gd name="adj" fmla="val 10000"/>
            </a:avLst>
          </a:prstGeom>
          <a:solidFill>
            <a:srgbClr val="172138"/>
          </a:solidFill>
          <a:ln w="12700">
            <a:solidFill>
              <a:srgbClr val="2A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B87C"/>
                </a:solidFill>
                <a:latin typeface="Calibri"/>
              </a:rPr>
              <a:t>READY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✓  100-job LinkedIn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✓  69-course catalog (60 official)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✓  Interactive dashboard (live)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✓  GitHub Pages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00400"/>
            <a:ext cx="5303520" cy="2834640"/>
          </a:xfrm>
          <a:prstGeom prst="roundRect">
            <a:avLst>
              <a:gd name="adj" fmla="val 10000"/>
            </a:avLst>
          </a:prstGeom>
          <a:solidFill>
            <a:srgbClr val="172138"/>
          </a:solidFill>
          <a:ln w="12700">
            <a:solidFill>
              <a:srgbClr val="2A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337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AAAC8"/>
                </a:solidFill>
                <a:latin typeface="Calibri"/>
              </a:rPr>
              <a:t>STARTING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49039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0CBDE"/>
                </a:solidFill>
                <a:latin typeface="Calibri"/>
              </a:rPr>
              <a:t>→  NLP keyword extraction (A)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CBDE"/>
                </a:solidFill>
                <a:latin typeface="Calibri"/>
              </a:rPr>
              <a:t>→  Student course recommender (B1)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CBDE"/>
                </a:solidFill>
                <a:latin typeface="Calibri"/>
              </a:rPr>
              <a:t>→  Professor gap dashboard (B2)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CBDE"/>
                </a:solidFill>
                <a:latin typeface="Calibri"/>
              </a:rPr>
              <a:t>→  Advertising signal ranking 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7F"/>
                </a:solidFill>
                <a:latin typeface="Courier New"/>
              </a:rPr>
              <a:t>github.com/soorej30/msds-curriculum-job-matching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